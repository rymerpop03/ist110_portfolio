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9A33F1-7976-D5A2-DA5C-E06002D2CC8D}" v="1743" dt="2025-09-26T18:08:11.1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CD2C785-80A3-D6D8-A57D-4D3076099222}"/>
              </a:ext>
            </a:extLst>
          </p:cNvPr>
          <p:cNvPicPr>
            <a:picLocks noChangeAspect="1"/>
          </p:cNvPicPr>
          <p:nvPr/>
        </p:nvPicPr>
        <p:blipFill>
          <a:blip r:embed="rId2"/>
          <a:stretch>
            <a:fillRect/>
          </a:stretch>
        </p:blipFill>
        <p:spPr>
          <a:xfrm>
            <a:off x="2353988" y="2191079"/>
            <a:ext cx="7260678" cy="3119602"/>
          </a:xfrm>
          <a:prstGeom prst="rect">
            <a:avLst/>
          </a:prstGeom>
        </p:spPr>
      </p:pic>
      <p:sp>
        <p:nvSpPr>
          <p:cNvPr id="11" name="Rectangle 10">
            <a:extLst>
              <a:ext uri="{FF2B5EF4-FFF2-40B4-BE49-F238E27FC236}">
                <a16:creationId xmlns:a16="http://schemas.microsoft.com/office/drawing/2014/main" id="{AAF392CC-0110-1367-1693-5B29E1772737}"/>
              </a:ext>
            </a:extLst>
          </p:cNvPr>
          <p:cNvSpPr/>
          <p:nvPr/>
        </p:nvSpPr>
        <p:spPr>
          <a:xfrm>
            <a:off x="4212677" y="4170636"/>
            <a:ext cx="828675" cy="6477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1B51032-3010-6874-51F2-73BA03C15159}"/>
              </a:ext>
            </a:extLst>
          </p:cNvPr>
          <p:cNvSpPr txBox="1"/>
          <p:nvPr/>
        </p:nvSpPr>
        <p:spPr>
          <a:xfrm>
            <a:off x="4012259" y="6087263"/>
            <a:ext cx="181697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SSD / Hard Drive</a:t>
            </a:r>
          </a:p>
        </p:txBody>
      </p:sp>
      <p:cxnSp>
        <p:nvCxnSpPr>
          <p:cNvPr id="15" name="Straight Arrow Connector 14">
            <a:extLst>
              <a:ext uri="{FF2B5EF4-FFF2-40B4-BE49-F238E27FC236}">
                <a16:creationId xmlns:a16="http://schemas.microsoft.com/office/drawing/2014/main" id="{05522425-755A-A5AA-7593-2D39EA3B8BB3}"/>
              </a:ext>
            </a:extLst>
          </p:cNvPr>
          <p:cNvCxnSpPr/>
          <p:nvPr/>
        </p:nvCxnSpPr>
        <p:spPr>
          <a:xfrm>
            <a:off x="4612727" y="4856436"/>
            <a:ext cx="28575" cy="123825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7" name="Title 16">
            <a:extLst>
              <a:ext uri="{FF2B5EF4-FFF2-40B4-BE49-F238E27FC236}">
                <a16:creationId xmlns:a16="http://schemas.microsoft.com/office/drawing/2014/main" id="{E44D8E60-9A11-7422-BEDA-968F1C9F0ABC}"/>
              </a:ext>
            </a:extLst>
          </p:cNvPr>
          <p:cNvSpPr>
            <a:spLocks noGrp="1"/>
          </p:cNvSpPr>
          <p:nvPr>
            <p:ph type="title"/>
          </p:nvPr>
        </p:nvSpPr>
        <p:spPr/>
        <p:txBody>
          <a:bodyPr/>
          <a:lstStyle/>
          <a:p>
            <a:pPr algn="ctr"/>
            <a:r>
              <a:rPr lang="en-US" b="1"/>
              <a:t>Steam Deck Dissection</a:t>
            </a:r>
          </a:p>
        </p:txBody>
      </p:sp>
      <p:sp>
        <p:nvSpPr>
          <p:cNvPr id="18" name="Rectangle 17">
            <a:extLst>
              <a:ext uri="{FF2B5EF4-FFF2-40B4-BE49-F238E27FC236}">
                <a16:creationId xmlns:a16="http://schemas.microsoft.com/office/drawing/2014/main" id="{37FF3C6B-1646-CC2E-4E0F-9F093B627AFB}"/>
              </a:ext>
            </a:extLst>
          </p:cNvPr>
          <p:cNvSpPr/>
          <p:nvPr/>
        </p:nvSpPr>
        <p:spPr>
          <a:xfrm>
            <a:off x="5438775" y="2967859"/>
            <a:ext cx="2072836" cy="176967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930C3771-C1D9-F2BF-8D2F-4C07A7A1935E}"/>
              </a:ext>
            </a:extLst>
          </p:cNvPr>
          <p:cNvCxnSpPr/>
          <p:nvPr/>
        </p:nvCxnSpPr>
        <p:spPr>
          <a:xfrm>
            <a:off x="5905499" y="4850853"/>
            <a:ext cx="19049" cy="1285874"/>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0" name="TextBox 19">
            <a:extLst>
              <a:ext uri="{FF2B5EF4-FFF2-40B4-BE49-F238E27FC236}">
                <a16:creationId xmlns:a16="http://schemas.microsoft.com/office/drawing/2014/main" id="{51C34F13-C6A6-7C17-A934-3FFC349721F4}"/>
              </a:ext>
            </a:extLst>
          </p:cNvPr>
          <p:cNvSpPr txBox="1"/>
          <p:nvPr/>
        </p:nvSpPr>
        <p:spPr>
          <a:xfrm>
            <a:off x="5544862" y="6056585"/>
            <a:ext cx="10858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Power Supply</a:t>
            </a:r>
          </a:p>
        </p:txBody>
      </p:sp>
      <p:sp>
        <p:nvSpPr>
          <p:cNvPr id="2" name="Rectangle 1">
            <a:extLst>
              <a:ext uri="{FF2B5EF4-FFF2-40B4-BE49-F238E27FC236}">
                <a16:creationId xmlns:a16="http://schemas.microsoft.com/office/drawing/2014/main" id="{BE8EFF24-717A-3010-0A86-7395CF0F39E0}"/>
              </a:ext>
            </a:extLst>
          </p:cNvPr>
          <p:cNvSpPr/>
          <p:nvPr/>
        </p:nvSpPr>
        <p:spPr>
          <a:xfrm>
            <a:off x="2781299" y="2466974"/>
            <a:ext cx="990599" cy="8001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7A075C8E-4BB0-B043-9B1B-B1F1FCB388F5}"/>
              </a:ext>
            </a:extLst>
          </p:cNvPr>
          <p:cNvCxnSpPr/>
          <p:nvPr/>
        </p:nvCxnSpPr>
        <p:spPr>
          <a:xfrm>
            <a:off x="1619250" y="2286000"/>
            <a:ext cx="1104900" cy="38100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104E85B8-079E-0A28-2005-0D281E750CA8}"/>
              </a:ext>
            </a:extLst>
          </p:cNvPr>
          <p:cNvSpPr txBox="1"/>
          <p:nvPr/>
        </p:nvSpPr>
        <p:spPr>
          <a:xfrm>
            <a:off x="529459" y="1833070"/>
            <a:ext cx="16323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Trigger button (Input)</a:t>
            </a:r>
          </a:p>
        </p:txBody>
      </p:sp>
      <p:sp>
        <p:nvSpPr>
          <p:cNvPr id="5" name="TextBox 4">
            <a:extLst>
              <a:ext uri="{FF2B5EF4-FFF2-40B4-BE49-F238E27FC236}">
                <a16:creationId xmlns:a16="http://schemas.microsoft.com/office/drawing/2014/main" id="{AF7122B9-8DC0-C14C-6D24-370BC2DA719B}"/>
              </a:ext>
            </a:extLst>
          </p:cNvPr>
          <p:cNvSpPr txBox="1"/>
          <p:nvPr/>
        </p:nvSpPr>
        <p:spPr>
          <a:xfrm>
            <a:off x="9601199" y="352425"/>
            <a:ext cx="24098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It is super impressive that this device is able to run 16Gb of DDR4 RAM</a:t>
            </a:r>
          </a:p>
        </p:txBody>
      </p:sp>
      <p:sp>
        <p:nvSpPr>
          <p:cNvPr id="6" name="TextBox 5">
            <a:extLst>
              <a:ext uri="{FF2B5EF4-FFF2-40B4-BE49-F238E27FC236}">
                <a16:creationId xmlns:a16="http://schemas.microsoft.com/office/drawing/2014/main" id="{84E84085-ED3B-DEFE-136B-8E01C3551130}"/>
              </a:ext>
            </a:extLst>
          </p:cNvPr>
          <p:cNvSpPr txBox="1"/>
          <p:nvPr/>
        </p:nvSpPr>
        <p:spPr>
          <a:xfrm>
            <a:off x="9812063" y="4951029"/>
            <a:ext cx="219075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An output device on here would be the display screen, located on the other side of the device</a:t>
            </a:r>
          </a:p>
        </p:txBody>
      </p:sp>
    </p:spTree>
    <p:extLst>
      <p:ext uri="{BB962C8B-B14F-4D97-AF65-F5344CB8AC3E}">
        <p14:creationId xmlns:p14="http://schemas.microsoft.com/office/powerpoint/2010/main" val="1863110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3660-5C5B-FE16-DF56-A67FC1ECAFBB}"/>
              </a:ext>
            </a:extLst>
          </p:cNvPr>
          <p:cNvSpPr>
            <a:spLocks noGrp="1"/>
          </p:cNvSpPr>
          <p:nvPr>
            <p:ph type="title"/>
          </p:nvPr>
        </p:nvSpPr>
        <p:spPr/>
        <p:txBody>
          <a:bodyPr/>
          <a:lstStyle/>
          <a:p>
            <a:pPr algn="ctr"/>
            <a:r>
              <a:rPr lang="en-US" b="1" dirty="0"/>
              <a:t>Steam Deck Motherboard</a:t>
            </a:r>
            <a:endParaRPr lang="en-US"/>
          </a:p>
        </p:txBody>
      </p:sp>
      <p:pic>
        <p:nvPicPr>
          <p:cNvPr id="4" name="Content Placeholder 3" descr="A circuit board with many small chips&#10;&#10;AI-generated content may be incorrect.">
            <a:extLst>
              <a:ext uri="{FF2B5EF4-FFF2-40B4-BE49-F238E27FC236}">
                <a16:creationId xmlns:a16="http://schemas.microsoft.com/office/drawing/2014/main" id="{0E8077FA-4BFD-8D67-A672-8930C40859ED}"/>
              </a:ext>
            </a:extLst>
          </p:cNvPr>
          <p:cNvPicPr>
            <a:picLocks noGrp="1" noChangeAspect="1"/>
          </p:cNvPicPr>
          <p:nvPr>
            <p:ph idx="1"/>
          </p:nvPr>
        </p:nvPicPr>
        <p:blipFill>
          <a:blip r:embed="rId2"/>
          <a:stretch>
            <a:fillRect/>
          </a:stretch>
        </p:blipFill>
        <p:spPr>
          <a:xfrm>
            <a:off x="3438525" y="2463828"/>
            <a:ext cx="5314950" cy="2838450"/>
          </a:xfrm>
          <a:prstGeom prst="rect">
            <a:avLst/>
          </a:prstGeom>
        </p:spPr>
      </p:pic>
      <p:sp>
        <p:nvSpPr>
          <p:cNvPr id="5" name="Rectangle 4">
            <a:extLst>
              <a:ext uri="{FF2B5EF4-FFF2-40B4-BE49-F238E27FC236}">
                <a16:creationId xmlns:a16="http://schemas.microsoft.com/office/drawing/2014/main" id="{11A74A11-751A-2457-0E98-0306EB5EA7C3}"/>
              </a:ext>
            </a:extLst>
          </p:cNvPr>
          <p:cNvSpPr/>
          <p:nvPr/>
        </p:nvSpPr>
        <p:spPr>
          <a:xfrm>
            <a:off x="5029200" y="3619500"/>
            <a:ext cx="1038224" cy="98107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177D73FF-A6E4-AA46-C0C2-4E2CE04AAEC3}"/>
              </a:ext>
            </a:extLst>
          </p:cNvPr>
          <p:cNvCxnSpPr/>
          <p:nvPr/>
        </p:nvCxnSpPr>
        <p:spPr>
          <a:xfrm>
            <a:off x="5524500" y="4648200"/>
            <a:ext cx="19049" cy="121920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E65C933F-34BF-B3F1-FF4B-FACEA686C759}"/>
              </a:ext>
            </a:extLst>
          </p:cNvPr>
          <p:cNvSpPr txBox="1"/>
          <p:nvPr/>
        </p:nvSpPr>
        <p:spPr>
          <a:xfrm>
            <a:off x="5253202" y="5871669"/>
            <a:ext cx="9715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CPU</a:t>
            </a:r>
          </a:p>
        </p:txBody>
      </p:sp>
      <p:sp>
        <p:nvSpPr>
          <p:cNvPr id="9" name="Rectangle 8">
            <a:extLst>
              <a:ext uri="{FF2B5EF4-FFF2-40B4-BE49-F238E27FC236}">
                <a16:creationId xmlns:a16="http://schemas.microsoft.com/office/drawing/2014/main" id="{F9C7E9C0-83F0-23F5-6299-DF8FAE61BCA8}"/>
              </a:ext>
            </a:extLst>
          </p:cNvPr>
          <p:cNvSpPr/>
          <p:nvPr/>
        </p:nvSpPr>
        <p:spPr>
          <a:xfrm>
            <a:off x="4010024" y="3619500"/>
            <a:ext cx="676275" cy="685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F8497E9-7B85-2C39-C6BA-CA02A8548CB3}"/>
              </a:ext>
            </a:extLst>
          </p:cNvPr>
          <p:cNvSpPr/>
          <p:nvPr/>
        </p:nvSpPr>
        <p:spPr>
          <a:xfrm>
            <a:off x="4010025" y="4400549"/>
            <a:ext cx="685800" cy="7239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A46D07D-6551-015E-AA7F-AA32E06AE075}"/>
              </a:ext>
            </a:extLst>
          </p:cNvPr>
          <p:cNvSpPr/>
          <p:nvPr/>
        </p:nvSpPr>
        <p:spPr>
          <a:xfrm>
            <a:off x="4571999" y="2752724"/>
            <a:ext cx="723900" cy="5905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FC554E5-418A-75D2-5DDD-476831CC8B5F}"/>
              </a:ext>
            </a:extLst>
          </p:cNvPr>
          <p:cNvSpPr/>
          <p:nvPr/>
        </p:nvSpPr>
        <p:spPr>
          <a:xfrm>
            <a:off x="5372099" y="2752724"/>
            <a:ext cx="723900" cy="5905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80CEE462-33E0-1BFC-894A-286AACF0E38D}"/>
              </a:ext>
            </a:extLst>
          </p:cNvPr>
          <p:cNvCxnSpPr/>
          <p:nvPr/>
        </p:nvCxnSpPr>
        <p:spPr>
          <a:xfrm>
            <a:off x="1952624" y="3533775"/>
            <a:ext cx="2047875" cy="121920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D9DF62EB-88D0-15BF-A0B2-ED4B8DF64437}"/>
              </a:ext>
            </a:extLst>
          </p:cNvPr>
          <p:cNvCxnSpPr/>
          <p:nvPr/>
        </p:nvCxnSpPr>
        <p:spPr>
          <a:xfrm>
            <a:off x="2019300" y="3457574"/>
            <a:ext cx="1981199" cy="50482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829E4295-9B70-D500-C8BB-85DA328AE4F2}"/>
              </a:ext>
            </a:extLst>
          </p:cNvPr>
          <p:cNvSpPr txBox="1"/>
          <p:nvPr/>
        </p:nvSpPr>
        <p:spPr>
          <a:xfrm>
            <a:off x="1277335" y="3152117"/>
            <a:ext cx="12763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RAM</a:t>
            </a:r>
          </a:p>
        </p:txBody>
      </p:sp>
      <p:cxnSp>
        <p:nvCxnSpPr>
          <p:cNvPr id="20" name="Straight Arrow Connector 19">
            <a:extLst>
              <a:ext uri="{FF2B5EF4-FFF2-40B4-BE49-F238E27FC236}">
                <a16:creationId xmlns:a16="http://schemas.microsoft.com/office/drawing/2014/main" id="{7BF27B49-E044-3381-063B-C0041F6E2F8C}"/>
              </a:ext>
            </a:extLst>
          </p:cNvPr>
          <p:cNvCxnSpPr/>
          <p:nvPr/>
        </p:nvCxnSpPr>
        <p:spPr>
          <a:xfrm>
            <a:off x="4876799" y="2076449"/>
            <a:ext cx="457199" cy="65722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B722A735-86FE-C96F-5B14-9DFA6B8416E6}"/>
              </a:ext>
            </a:extLst>
          </p:cNvPr>
          <p:cNvSpPr txBox="1"/>
          <p:nvPr/>
        </p:nvSpPr>
        <p:spPr>
          <a:xfrm>
            <a:off x="4339130" y="1669831"/>
            <a:ext cx="9620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RAM</a:t>
            </a:r>
          </a:p>
        </p:txBody>
      </p:sp>
      <p:sp>
        <p:nvSpPr>
          <p:cNvPr id="22" name="Rectangle 21">
            <a:extLst>
              <a:ext uri="{FF2B5EF4-FFF2-40B4-BE49-F238E27FC236}">
                <a16:creationId xmlns:a16="http://schemas.microsoft.com/office/drawing/2014/main" id="{2320770F-2272-2043-01C5-CBB4BF87235A}"/>
              </a:ext>
            </a:extLst>
          </p:cNvPr>
          <p:cNvSpPr/>
          <p:nvPr/>
        </p:nvSpPr>
        <p:spPr>
          <a:xfrm>
            <a:off x="8067674" y="3238499"/>
            <a:ext cx="400049" cy="3524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BE87B601-0D19-B8D4-C510-E7F38BF14C8B}"/>
              </a:ext>
            </a:extLst>
          </p:cNvPr>
          <p:cNvCxnSpPr/>
          <p:nvPr/>
        </p:nvCxnSpPr>
        <p:spPr>
          <a:xfrm>
            <a:off x="8534399" y="3428999"/>
            <a:ext cx="952500" cy="952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C8446232-653B-0E12-7ABE-10D30247D84E}"/>
              </a:ext>
            </a:extLst>
          </p:cNvPr>
          <p:cNvSpPr txBox="1"/>
          <p:nvPr/>
        </p:nvSpPr>
        <p:spPr>
          <a:xfrm>
            <a:off x="9553574" y="3209924"/>
            <a:ext cx="12954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Network Adapter</a:t>
            </a:r>
          </a:p>
        </p:txBody>
      </p:sp>
    </p:spTree>
    <p:extLst>
      <p:ext uri="{BB962C8B-B14F-4D97-AF65-F5344CB8AC3E}">
        <p14:creationId xmlns:p14="http://schemas.microsoft.com/office/powerpoint/2010/main" val="2566773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8E0C-DC40-84CE-EC37-C121C1EC58AB}"/>
              </a:ext>
            </a:extLst>
          </p:cNvPr>
          <p:cNvSpPr>
            <a:spLocks noGrp="1"/>
          </p:cNvSpPr>
          <p:nvPr>
            <p:ph type="title"/>
          </p:nvPr>
        </p:nvSpPr>
        <p:spPr/>
        <p:txBody>
          <a:bodyPr/>
          <a:lstStyle/>
          <a:p>
            <a:pPr algn="ctr"/>
            <a:r>
              <a:rPr lang="en-US" b="1" dirty="0"/>
              <a:t>2012 </a:t>
            </a:r>
            <a:r>
              <a:rPr lang="en-US" b="1" dirty="0" err="1"/>
              <a:t>Macbook</a:t>
            </a:r>
            <a:r>
              <a:rPr lang="en-US" b="1" dirty="0"/>
              <a:t> Pro  Dissection</a:t>
            </a:r>
          </a:p>
        </p:txBody>
      </p:sp>
      <p:pic>
        <p:nvPicPr>
          <p:cNvPr id="3" name="Picture 2" descr="https://guide-images.cdn.ifixit.com/igi/vkuKGsNkWXXe1BRv.huge">
            <a:extLst>
              <a:ext uri="{FF2B5EF4-FFF2-40B4-BE49-F238E27FC236}">
                <a16:creationId xmlns:a16="http://schemas.microsoft.com/office/drawing/2014/main" id="{49BDA767-0AF9-0976-969B-364A58A6D2AE}"/>
              </a:ext>
            </a:extLst>
          </p:cNvPr>
          <p:cNvPicPr>
            <a:picLocks noChangeAspect="1"/>
          </p:cNvPicPr>
          <p:nvPr/>
        </p:nvPicPr>
        <p:blipFill>
          <a:blip r:embed="rId2"/>
          <a:stretch>
            <a:fillRect/>
          </a:stretch>
        </p:blipFill>
        <p:spPr>
          <a:xfrm>
            <a:off x="2865875" y="1415776"/>
            <a:ext cx="6460250" cy="4854138"/>
          </a:xfrm>
          <a:prstGeom prst="rect">
            <a:avLst/>
          </a:prstGeom>
        </p:spPr>
      </p:pic>
      <p:sp>
        <p:nvSpPr>
          <p:cNvPr id="5" name="Rectangle 4">
            <a:extLst>
              <a:ext uri="{FF2B5EF4-FFF2-40B4-BE49-F238E27FC236}">
                <a16:creationId xmlns:a16="http://schemas.microsoft.com/office/drawing/2014/main" id="{A27AD094-BFBD-0F7F-0942-FC6ED09CC851}"/>
              </a:ext>
            </a:extLst>
          </p:cNvPr>
          <p:cNvSpPr/>
          <p:nvPr/>
        </p:nvSpPr>
        <p:spPr>
          <a:xfrm>
            <a:off x="5076825" y="4181474"/>
            <a:ext cx="1971674" cy="16287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F4E63882-F03E-05B2-2C27-FD8946F16046}"/>
              </a:ext>
            </a:extLst>
          </p:cNvPr>
          <p:cNvCxnSpPr/>
          <p:nvPr/>
        </p:nvCxnSpPr>
        <p:spPr>
          <a:xfrm>
            <a:off x="6057899" y="5953124"/>
            <a:ext cx="9525" cy="46672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23186FDB-1285-0CB3-ABEE-D4E8F7989697}"/>
              </a:ext>
            </a:extLst>
          </p:cNvPr>
          <p:cNvSpPr txBox="1"/>
          <p:nvPr/>
        </p:nvSpPr>
        <p:spPr>
          <a:xfrm>
            <a:off x="5290316" y="6427403"/>
            <a:ext cx="19394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Power Supply</a:t>
            </a:r>
            <a:endParaRPr lang="en-US" dirty="0"/>
          </a:p>
        </p:txBody>
      </p:sp>
      <p:sp>
        <p:nvSpPr>
          <p:cNvPr id="8" name="Rectangle 7">
            <a:extLst>
              <a:ext uri="{FF2B5EF4-FFF2-40B4-BE49-F238E27FC236}">
                <a16:creationId xmlns:a16="http://schemas.microsoft.com/office/drawing/2014/main" id="{CED6C76C-22E1-2AC6-CC65-AB802C9B9E1A}"/>
              </a:ext>
            </a:extLst>
          </p:cNvPr>
          <p:cNvSpPr/>
          <p:nvPr/>
        </p:nvSpPr>
        <p:spPr>
          <a:xfrm>
            <a:off x="3619499" y="3505200"/>
            <a:ext cx="1390650" cy="571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A1612D1-F9E1-8630-782F-017E441C333F}"/>
              </a:ext>
            </a:extLst>
          </p:cNvPr>
          <p:cNvCxnSpPr/>
          <p:nvPr/>
        </p:nvCxnSpPr>
        <p:spPr>
          <a:xfrm>
            <a:off x="2209799" y="3771900"/>
            <a:ext cx="1323975" cy="28574"/>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96A9EC2C-1949-C91F-6674-D656B489DA35}"/>
              </a:ext>
            </a:extLst>
          </p:cNvPr>
          <p:cNvSpPr txBox="1"/>
          <p:nvPr/>
        </p:nvSpPr>
        <p:spPr>
          <a:xfrm>
            <a:off x="1422509" y="3542642"/>
            <a:ext cx="12954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SSD / Hard Drive</a:t>
            </a:r>
          </a:p>
        </p:txBody>
      </p:sp>
      <p:sp>
        <p:nvSpPr>
          <p:cNvPr id="11" name="TextBox 10">
            <a:extLst>
              <a:ext uri="{FF2B5EF4-FFF2-40B4-BE49-F238E27FC236}">
                <a16:creationId xmlns:a16="http://schemas.microsoft.com/office/drawing/2014/main" id="{DAAF11E1-D0EC-CF04-1B5D-22B13BEE1C1C}"/>
              </a:ext>
            </a:extLst>
          </p:cNvPr>
          <p:cNvSpPr txBox="1"/>
          <p:nvPr/>
        </p:nvSpPr>
        <p:spPr>
          <a:xfrm>
            <a:off x="248307" y="1503636"/>
            <a:ext cx="24765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 love how this device has so much memory. It has DDR4 and DDR5 RAM working together. </a:t>
            </a:r>
          </a:p>
        </p:txBody>
      </p:sp>
      <p:sp>
        <p:nvSpPr>
          <p:cNvPr id="12" name="Rectangle 11">
            <a:extLst>
              <a:ext uri="{FF2B5EF4-FFF2-40B4-BE49-F238E27FC236}">
                <a16:creationId xmlns:a16="http://schemas.microsoft.com/office/drawing/2014/main" id="{4CEE0961-5975-C4AA-6D00-F2B18029927E}"/>
              </a:ext>
            </a:extLst>
          </p:cNvPr>
          <p:cNvSpPr/>
          <p:nvPr/>
        </p:nvSpPr>
        <p:spPr>
          <a:xfrm>
            <a:off x="8743950" y="2247900"/>
            <a:ext cx="476250" cy="8763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CAA1E0A6-B4D4-4811-9840-402D8C666C8B}"/>
              </a:ext>
            </a:extLst>
          </p:cNvPr>
          <p:cNvCxnSpPr/>
          <p:nvPr/>
        </p:nvCxnSpPr>
        <p:spPr>
          <a:xfrm>
            <a:off x="9258299" y="2657474"/>
            <a:ext cx="704850" cy="952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71E648DF-1EB5-0AA7-761C-85B8FCFC293B}"/>
              </a:ext>
            </a:extLst>
          </p:cNvPr>
          <p:cNvSpPr txBox="1"/>
          <p:nvPr/>
        </p:nvSpPr>
        <p:spPr>
          <a:xfrm>
            <a:off x="9957238" y="2356287"/>
            <a:ext cx="210732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USB &amp; Thunderbolt Ports (Input)</a:t>
            </a:r>
          </a:p>
        </p:txBody>
      </p:sp>
      <p:sp>
        <p:nvSpPr>
          <p:cNvPr id="15" name="TextBox 14">
            <a:extLst>
              <a:ext uri="{FF2B5EF4-FFF2-40B4-BE49-F238E27FC236}">
                <a16:creationId xmlns:a16="http://schemas.microsoft.com/office/drawing/2014/main" id="{F4995EFA-A7A9-B429-30F5-827778060093}"/>
              </a:ext>
            </a:extLst>
          </p:cNvPr>
          <p:cNvSpPr txBox="1"/>
          <p:nvPr/>
        </p:nvSpPr>
        <p:spPr>
          <a:xfrm>
            <a:off x="253561" y="4883697"/>
            <a:ext cx="231457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An output device on here would also be the 15 inch display on the other side of the device. </a:t>
            </a:r>
          </a:p>
        </p:txBody>
      </p:sp>
    </p:spTree>
    <p:extLst>
      <p:ext uri="{BB962C8B-B14F-4D97-AF65-F5344CB8AC3E}">
        <p14:creationId xmlns:p14="http://schemas.microsoft.com/office/powerpoint/2010/main" val="2686853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B6734-181A-752F-22B4-7118DA9B2D55}"/>
              </a:ext>
            </a:extLst>
          </p:cNvPr>
          <p:cNvSpPr>
            <a:spLocks noGrp="1"/>
          </p:cNvSpPr>
          <p:nvPr>
            <p:ph type="title"/>
          </p:nvPr>
        </p:nvSpPr>
        <p:spPr/>
        <p:txBody>
          <a:bodyPr/>
          <a:lstStyle/>
          <a:p>
            <a:pPr algn="ctr"/>
            <a:r>
              <a:rPr lang="en-US" b="1" dirty="0"/>
              <a:t>2012 </a:t>
            </a:r>
            <a:r>
              <a:rPr lang="en-US" b="1" err="1"/>
              <a:t>Macbook</a:t>
            </a:r>
            <a:r>
              <a:rPr lang="en-US" b="1" dirty="0"/>
              <a:t> Pro Logic Board </a:t>
            </a:r>
            <a:r>
              <a:rPr lang="en-US" b="1"/>
              <a:t>(Motherboard)</a:t>
            </a:r>
            <a:endParaRPr lang="en-US" b="1" dirty="0"/>
          </a:p>
        </p:txBody>
      </p:sp>
      <p:pic>
        <p:nvPicPr>
          <p:cNvPr id="4" name="Content Placeholder 3" descr="MacBook Pro 15&quot; Retina Display Mid 2012 Teardown: step 15, image 1 of 1">
            <a:extLst>
              <a:ext uri="{FF2B5EF4-FFF2-40B4-BE49-F238E27FC236}">
                <a16:creationId xmlns:a16="http://schemas.microsoft.com/office/drawing/2014/main" id="{64F37EA1-2518-458D-8394-C1E0DF1F6B97}"/>
              </a:ext>
            </a:extLst>
          </p:cNvPr>
          <p:cNvPicPr>
            <a:picLocks noGrp="1" noChangeAspect="1"/>
          </p:cNvPicPr>
          <p:nvPr>
            <p:ph idx="1"/>
          </p:nvPr>
        </p:nvPicPr>
        <p:blipFill>
          <a:blip r:embed="rId2"/>
          <a:stretch>
            <a:fillRect/>
          </a:stretch>
        </p:blipFill>
        <p:spPr>
          <a:xfrm>
            <a:off x="3271837" y="1886744"/>
            <a:ext cx="5648325" cy="4229100"/>
          </a:xfrm>
          <a:prstGeom prst="rect">
            <a:avLst/>
          </a:prstGeom>
        </p:spPr>
      </p:pic>
      <p:cxnSp>
        <p:nvCxnSpPr>
          <p:cNvPr id="5" name="Straight Arrow Connector 4">
            <a:extLst>
              <a:ext uri="{FF2B5EF4-FFF2-40B4-BE49-F238E27FC236}">
                <a16:creationId xmlns:a16="http://schemas.microsoft.com/office/drawing/2014/main" id="{A908AA39-A963-D079-A546-8249268B70F6}"/>
              </a:ext>
            </a:extLst>
          </p:cNvPr>
          <p:cNvCxnSpPr/>
          <p:nvPr/>
        </p:nvCxnSpPr>
        <p:spPr>
          <a:xfrm>
            <a:off x="7553324" y="4467224"/>
            <a:ext cx="2105025" cy="38099"/>
          </a:xfrm>
          <a:prstGeom prst="straightConnector1">
            <a:avLst/>
          </a:prstGeom>
          <a:ln>
            <a:solidFill>
              <a:srgbClr val="FFC000"/>
            </a:solidFill>
            <a:tailEnd type="triangle"/>
          </a:ln>
        </p:spPr>
        <p:style>
          <a:lnRef idx="3">
            <a:schemeClr val="dk1"/>
          </a:lnRef>
          <a:fillRef idx="0">
            <a:schemeClr val="dk1"/>
          </a:fillRef>
          <a:effectRef idx="2">
            <a:schemeClr val="dk1"/>
          </a:effectRef>
          <a:fontRef idx="minor">
            <a:schemeClr val="tx1"/>
          </a:fontRef>
        </p:style>
      </p:cxnSp>
      <p:sp>
        <p:nvSpPr>
          <p:cNvPr id="6" name="TextBox 5">
            <a:extLst>
              <a:ext uri="{FF2B5EF4-FFF2-40B4-BE49-F238E27FC236}">
                <a16:creationId xmlns:a16="http://schemas.microsoft.com/office/drawing/2014/main" id="{87CB108A-5FCB-9C0B-B3DF-5615A4C02220}"/>
              </a:ext>
            </a:extLst>
          </p:cNvPr>
          <p:cNvSpPr txBox="1"/>
          <p:nvPr/>
        </p:nvSpPr>
        <p:spPr>
          <a:xfrm>
            <a:off x="9656707" y="4306614"/>
            <a:ext cx="11620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CPU</a:t>
            </a:r>
          </a:p>
        </p:txBody>
      </p:sp>
      <p:cxnSp>
        <p:nvCxnSpPr>
          <p:cNvPr id="7" name="Straight Arrow Connector 6">
            <a:extLst>
              <a:ext uri="{FF2B5EF4-FFF2-40B4-BE49-F238E27FC236}">
                <a16:creationId xmlns:a16="http://schemas.microsoft.com/office/drawing/2014/main" id="{6BA9DCDD-4E30-E601-8FAD-B588F708D267}"/>
              </a:ext>
            </a:extLst>
          </p:cNvPr>
          <p:cNvCxnSpPr/>
          <p:nvPr/>
        </p:nvCxnSpPr>
        <p:spPr>
          <a:xfrm>
            <a:off x="5991224" y="5143499"/>
            <a:ext cx="142875" cy="114300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5AE859FB-D341-C7E1-17E2-569378F7D99C}"/>
              </a:ext>
            </a:extLst>
          </p:cNvPr>
          <p:cNvSpPr txBox="1"/>
          <p:nvPr/>
        </p:nvSpPr>
        <p:spPr>
          <a:xfrm>
            <a:off x="5867400" y="6286499"/>
            <a:ext cx="8191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GPU</a:t>
            </a:r>
          </a:p>
        </p:txBody>
      </p:sp>
      <p:cxnSp>
        <p:nvCxnSpPr>
          <p:cNvPr id="9" name="Straight Arrow Connector 8">
            <a:extLst>
              <a:ext uri="{FF2B5EF4-FFF2-40B4-BE49-F238E27FC236}">
                <a16:creationId xmlns:a16="http://schemas.microsoft.com/office/drawing/2014/main" id="{E593A71B-0C85-0191-BFEE-B6B5119F089A}"/>
              </a:ext>
            </a:extLst>
          </p:cNvPr>
          <p:cNvCxnSpPr/>
          <p:nvPr/>
        </p:nvCxnSpPr>
        <p:spPr>
          <a:xfrm>
            <a:off x="1952624" y="4619624"/>
            <a:ext cx="1714500" cy="952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758A83E8-72C3-B349-3186-607CC8E25DF8}"/>
              </a:ext>
            </a:extLst>
          </p:cNvPr>
          <p:cNvSpPr txBox="1"/>
          <p:nvPr/>
        </p:nvSpPr>
        <p:spPr>
          <a:xfrm>
            <a:off x="833274" y="4251762"/>
            <a:ext cx="17979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Network Adapter</a:t>
            </a:r>
          </a:p>
        </p:txBody>
      </p:sp>
    </p:spTree>
    <p:extLst>
      <p:ext uri="{BB962C8B-B14F-4D97-AF65-F5344CB8AC3E}">
        <p14:creationId xmlns:p14="http://schemas.microsoft.com/office/powerpoint/2010/main" val="2432561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5E112-C176-B835-F28A-F30D87B9466B}"/>
              </a:ext>
            </a:extLst>
          </p:cNvPr>
          <p:cNvSpPr>
            <a:spLocks noGrp="1"/>
          </p:cNvSpPr>
          <p:nvPr>
            <p:ph type="title"/>
          </p:nvPr>
        </p:nvSpPr>
        <p:spPr>
          <a:xfrm>
            <a:off x="838200" y="502285"/>
            <a:ext cx="10515600" cy="1325563"/>
          </a:xfrm>
        </p:spPr>
        <p:txBody>
          <a:bodyPr/>
          <a:lstStyle/>
          <a:p>
            <a:pPr algn="ctr"/>
            <a:r>
              <a:rPr lang="en-US" b="1" dirty="0"/>
              <a:t>2012 </a:t>
            </a:r>
            <a:r>
              <a:rPr lang="en-US" b="1" dirty="0" err="1"/>
              <a:t>Macbook</a:t>
            </a:r>
            <a:r>
              <a:rPr lang="en-US" b="1" dirty="0"/>
              <a:t> Pro Logic Board Back (Motherboard)</a:t>
            </a:r>
            <a:endParaRPr lang="en-US" dirty="0"/>
          </a:p>
          <a:p>
            <a:endParaRPr lang="en-US" dirty="0"/>
          </a:p>
        </p:txBody>
      </p:sp>
      <p:pic>
        <p:nvPicPr>
          <p:cNvPr id="4" name="Picture 3" descr="MacBook Pro 15&quot; Retina Display Mid 2012 Teardown: step 17, image 1 of 1">
            <a:extLst>
              <a:ext uri="{FF2B5EF4-FFF2-40B4-BE49-F238E27FC236}">
                <a16:creationId xmlns:a16="http://schemas.microsoft.com/office/drawing/2014/main" id="{88753406-C16F-4ED2-9C9D-4F269F313357}"/>
              </a:ext>
            </a:extLst>
          </p:cNvPr>
          <p:cNvPicPr>
            <a:picLocks noChangeAspect="1"/>
          </p:cNvPicPr>
          <p:nvPr/>
        </p:nvPicPr>
        <p:blipFill>
          <a:blip r:embed="rId2"/>
          <a:stretch>
            <a:fillRect/>
          </a:stretch>
        </p:blipFill>
        <p:spPr>
          <a:xfrm>
            <a:off x="3271837" y="1817370"/>
            <a:ext cx="5648325" cy="4229100"/>
          </a:xfrm>
          <a:prstGeom prst="rect">
            <a:avLst/>
          </a:prstGeom>
        </p:spPr>
      </p:pic>
      <p:cxnSp>
        <p:nvCxnSpPr>
          <p:cNvPr id="5" name="Straight Arrow Connector 4">
            <a:extLst>
              <a:ext uri="{FF2B5EF4-FFF2-40B4-BE49-F238E27FC236}">
                <a16:creationId xmlns:a16="http://schemas.microsoft.com/office/drawing/2014/main" id="{DC54DE8F-F9B1-80B5-2598-566A969E55AB}"/>
              </a:ext>
            </a:extLst>
          </p:cNvPr>
          <p:cNvCxnSpPr/>
          <p:nvPr/>
        </p:nvCxnSpPr>
        <p:spPr>
          <a:xfrm>
            <a:off x="6686550" y="5286374"/>
            <a:ext cx="2971800" cy="37147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6" name="TextBox 5">
            <a:extLst>
              <a:ext uri="{FF2B5EF4-FFF2-40B4-BE49-F238E27FC236}">
                <a16:creationId xmlns:a16="http://schemas.microsoft.com/office/drawing/2014/main" id="{B9DF0186-ADF8-0F38-FD0E-FB63994339A8}"/>
              </a:ext>
            </a:extLst>
          </p:cNvPr>
          <p:cNvSpPr txBox="1"/>
          <p:nvPr/>
        </p:nvSpPr>
        <p:spPr>
          <a:xfrm>
            <a:off x="9814559" y="5503544"/>
            <a:ext cx="1095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t>RAM</a:t>
            </a:r>
          </a:p>
        </p:txBody>
      </p:sp>
      <p:cxnSp>
        <p:nvCxnSpPr>
          <p:cNvPr id="7" name="Straight Arrow Connector 6">
            <a:extLst>
              <a:ext uri="{FF2B5EF4-FFF2-40B4-BE49-F238E27FC236}">
                <a16:creationId xmlns:a16="http://schemas.microsoft.com/office/drawing/2014/main" id="{E5D5341E-E341-93BD-C095-3CF356E10EE6}"/>
              </a:ext>
            </a:extLst>
          </p:cNvPr>
          <p:cNvCxnSpPr/>
          <p:nvPr/>
        </p:nvCxnSpPr>
        <p:spPr>
          <a:xfrm>
            <a:off x="2066925" y="3505199"/>
            <a:ext cx="2000250" cy="276225"/>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59898D1C-0985-9F3B-6E52-C62D0E749005}"/>
              </a:ext>
            </a:extLst>
          </p:cNvPr>
          <p:cNvSpPr txBox="1"/>
          <p:nvPr/>
        </p:nvSpPr>
        <p:spPr>
          <a:xfrm>
            <a:off x="1013459" y="3164204"/>
            <a:ext cx="1552575" cy="6539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More Memory</a:t>
            </a:r>
          </a:p>
        </p:txBody>
      </p:sp>
    </p:spTree>
    <p:extLst>
      <p:ext uri="{BB962C8B-B14F-4D97-AF65-F5344CB8AC3E}">
        <p14:creationId xmlns:p14="http://schemas.microsoft.com/office/powerpoint/2010/main" val="3811779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FE8B8-7357-35B4-B443-9C95405CAAD4}"/>
              </a:ext>
            </a:extLst>
          </p:cNvPr>
          <p:cNvSpPr>
            <a:spLocks noGrp="1"/>
          </p:cNvSpPr>
          <p:nvPr>
            <p:ph type="title"/>
          </p:nvPr>
        </p:nvSpPr>
        <p:spPr/>
        <p:txBody>
          <a:bodyPr/>
          <a:lstStyle/>
          <a:p>
            <a:r>
              <a:rPr lang="en-US" b="1" dirty="0"/>
              <a:t>Reflection</a:t>
            </a:r>
          </a:p>
        </p:txBody>
      </p:sp>
      <p:sp>
        <p:nvSpPr>
          <p:cNvPr id="3" name="Content Placeholder 2">
            <a:extLst>
              <a:ext uri="{FF2B5EF4-FFF2-40B4-BE49-F238E27FC236}">
                <a16:creationId xmlns:a16="http://schemas.microsoft.com/office/drawing/2014/main" id="{E52F69A8-33E9-26EA-FF80-CAEE285E480D}"/>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dirty="0"/>
              <a:t>These devices were obviously very different, however, the motherboards had very similar layouts. Both devices had those 4 pieces of DDR4 RAM, although the MacBook also had DDR5. When looking at the motherboard, you can see that the network adapters on both devices are on the opposite side of the motherboard from the rest of the components. It honestly wasn't super hard to find all the components on either device as the motherboard is fairly organized. I picked the steam deck because it’s a unique piece of technology since it has the computing power of a desktop but in a hand-held device. One main thing I noticed is the huge difference in repairability between the two devices. The MacBook is immensely harder to put back together after taken apart. However, the steam deck is easy to put back together, except for the power supply. Overall, I really enjoyed this </a:t>
            </a:r>
            <a:r>
              <a:rPr lang="en-US"/>
              <a:t>activity,</a:t>
            </a:r>
            <a:r>
              <a:rPr lang="en-US" dirty="0"/>
              <a:t> and I got to understand a lot more about how these devices component's work together.</a:t>
            </a:r>
          </a:p>
        </p:txBody>
      </p:sp>
    </p:spTree>
    <p:extLst>
      <p:ext uri="{BB962C8B-B14F-4D97-AF65-F5344CB8AC3E}">
        <p14:creationId xmlns:p14="http://schemas.microsoft.com/office/powerpoint/2010/main" val="2821846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Steam Deck Dissection</vt:lpstr>
      <vt:lpstr>Steam Deck Motherboard</vt:lpstr>
      <vt:lpstr>2012 Macbook Pro  Dissection</vt:lpstr>
      <vt:lpstr>2012 Macbook Pro Logic Board (Motherboard)</vt:lpstr>
      <vt:lpstr>2012 Macbook Pro Logic Board Back (Motherboard) </vt:lpstr>
      <vt:lpstr>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186</cp:revision>
  <dcterms:created xsi:type="dcterms:W3CDTF">2025-09-26T15:27:09Z</dcterms:created>
  <dcterms:modified xsi:type="dcterms:W3CDTF">2025-09-26T18:08:17Z</dcterms:modified>
</cp:coreProperties>
</file>